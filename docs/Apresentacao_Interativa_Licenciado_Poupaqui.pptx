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drogariaspoupaqui.com.br" TargetMode="Externa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9436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1600200"/>
            <a:ext cx="3657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UMA NOVA PORTA
PARA A SUA LOJA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27248"/>
            <a:ext cx="347472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Viva a experiência de compra pelo olhar do consumidor.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658368" y="4800600"/>
            <a:ext cx="3337560" cy="621792"/>
          </a:xfrm>
          <a:prstGeom prst="round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5161E"/>
                </a:solidFill>
                <a:latin typeface="Aptos"/>
              </a:rPr>
              <a:t>▶  COMEÇAR A EXPERIÊNCIA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5532120"/>
            <a:ext cx="33832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Abra em modo apresentação (F5) e clique nos botões.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1968" y="411480"/>
            <a:ext cx="3154680" cy="6035040"/>
          </a:xfrm>
          <a:prstGeom prst="roundRect">
            <a:avLst/>
          </a:prstGeom>
          <a:solidFill>
            <a:srgbClr val="0A0A0E"/>
          </a:solidFill>
          <a:ln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ome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603504"/>
            <a:ext cx="2862072" cy="5623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29800" y="2057400"/>
            <a:ext cx="192024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5C842"/>
                </a:solidFill>
                <a:latin typeface="Aptos"/>
              </a:rPr>
              <a:t>O consumidor já está aqui.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3108960"/>
            <a:ext cx="1965960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 pergunta é:
sua loja também estará?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68580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320040"/>
            <a:ext cx="54864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CC0A2E"/>
                </a:solidFill>
                <a:latin typeface="Aptos"/>
              </a:rPr>
              <a:t>Imagine uma situação comum…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67665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527048"/>
            <a:ext cx="128016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000" b="1">
                <a:solidFill>
                  <a:srgbClr val="CC0A2E"/>
                </a:solidFill>
                <a:latin typeface="Aptos"/>
              </a:rPr>
              <a:t>20:17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194560"/>
            <a:ext cx="544068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5161E"/>
                </a:solidFill>
                <a:latin typeface="Aptos"/>
              </a:rPr>
              <a:t>Mariana percebe que precisa de um produto.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907792"/>
            <a:ext cx="5394960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0">
                <a:solidFill>
                  <a:srgbClr val="5D6270"/>
                </a:solidFill>
                <a:latin typeface="Aptos"/>
              </a:rPr>
              <a:t>Ela não quer sair procurando de loja em loja. Pega o celular e busca uma solução próxima, confiável e rápida.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251960"/>
            <a:ext cx="5394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5161E"/>
                </a:solidFill>
                <a:latin typeface="Aptos Display"/>
              </a:rPr>
              <a:t>Nesse momento, </a:t>
            </a:r>
            <a:r>
              <a:rPr sz="2000" b="1">
                <a:solidFill>
                  <a:srgbClr val="CC0A2E"/>
                </a:solidFill>
                <a:latin typeface="Aptos Display"/>
              </a:rPr>
              <a:t>quem aparece no celular ganha a oportunidade da venda.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70432"/>
            <a:ext cx="2788920" cy="4846320"/>
          </a:xfrm>
          <a:prstGeom prst="roundRect">
            <a:avLst/>
          </a:prstGeom>
          <a:solidFill>
            <a:srgbClr val="15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2" y="1600200"/>
            <a:ext cx="1463040" cy="11887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5400" b="0">
                <a:solidFill>
                  <a:srgbClr val="15161E"/>
                </a:solidFill>
                <a:latin typeface="Aptos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017520"/>
            <a:ext cx="2057400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“Quero encontrar
perto de mim.”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8366760" y="4736592"/>
            <a:ext cx="2057400" cy="594360"/>
          </a:xfrm>
          <a:prstGeom prst="round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5161E"/>
                </a:solidFill>
                <a:latin typeface="Aptos"/>
              </a:rPr>
              <a:t>ABRIR A POUPAQUI 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ome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0999"/>
            <a:ext cx="12191999" cy="7619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74920"/>
            <a:ext cx="5257800" cy="1170432"/>
          </a:xfrm>
          <a:prstGeom prst="roundRect">
            <a:avLst/>
          </a:prstGeom>
          <a:solidFill>
            <a:srgbClr val="15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193792"/>
            <a:ext cx="47091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A experiência começa com confiança.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596128"/>
            <a:ext cx="47091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Marca conhecida, categorias claras e ofertas em destaque.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8558784" y="5559552"/>
            <a:ext cx="2743200" cy="566928"/>
          </a:xfrm>
          <a:prstGeom prst="round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5161E"/>
                </a:solidFill>
                <a:latin typeface="Aptos"/>
              </a:rPr>
              <a:t>CLIQUE PARA BUSCAR  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6473952"/>
            <a:ext cx="1874519" cy="256032"/>
          </a:xfrm>
          <a:prstGeom prst="roundRect">
            <a:avLst/>
          </a:prstGeom>
          <a:solidFill>
            <a:srgbClr val="15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0112" y="6473952"/>
            <a:ext cx="173736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APRESENTAÇÃO INTERATIVA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talogo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0999"/>
            <a:ext cx="12191999" cy="761999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407408" y="1207008"/>
            <a:ext cx="1600200" cy="4005072"/>
          </a:xfrm>
          <a:prstGeom prst="roundRect">
            <a:avLst/>
          </a:prstGeom>
          <a:solidFill>
            <a:srgbClr val="CC0A2E"/>
          </a:solidFill>
          <a:ln>
            <a:solidFill>
              <a:srgbClr val="CC0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0560" y="5248656"/>
            <a:ext cx="3054096" cy="658368"/>
          </a:xfrm>
          <a:prstGeom prst="roundRect">
            <a:avLst/>
          </a:prstGeom>
          <a:solidFill>
            <a:srgbClr val="15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17720" y="5321808"/>
            <a:ext cx="274320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 cliente vê preço, economia e loja responsável.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8732520" y="5596128"/>
            <a:ext cx="2487168" cy="530352"/>
          </a:xfrm>
          <a:prstGeom prst="round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161E"/>
                </a:solidFill>
                <a:latin typeface="Aptos"/>
              </a:rPr>
              <a:t>🛒  ADICIONAR DIPIMED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6473952"/>
            <a:ext cx="1874519" cy="256032"/>
          </a:xfrm>
          <a:prstGeom prst="roundRect">
            <a:avLst/>
          </a:prstGeom>
          <a:solidFill>
            <a:srgbClr val="15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40112" y="6473952"/>
            <a:ext cx="173736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APRESENTAÇÃO INTERATIVA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2688" y="91440"/>
            <a:ext cx="274320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Poupaqui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46304"/>
            <a:ext cx="3840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04487" y="155448"/>
            <a:ext cx="347472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D6270"/>
                </a:solidFill>
                <a:latin typeface="Aptos"/>
              </a:rPr>
              <a:t>🔎  Buscar item ou medicamento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100584"/>
            <a:ext cx="118872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24128"/>
            <a:ext cx="36576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5161E"/>
                </a:solidFill>
                <a:latin typeface="Aptos"/>
              </a:rPr>
              <a:t>Minha cesta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69951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2029968"/>
            <a:ext cx="1417320" cy="1554480"/>
          </a:xfrm>
          <a:prstGeom prst="roundRect">
            <a:avLst/>
          </a:prstGeom>
          <a:solidFill>
            <a:srgbClr val="F7F7F9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331720"/>
            <a:ext cx="105156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4300" b="0">
                <a:solidFill>
                  <a:srgbClr val="15161E"/>
                </a:solidFill>
                <a:latin typeface="Aptos"/>
              </a:rPr>
              <a:t>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993392"/>
            <a:ext cx="32918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5161E"/>
                </a:solidFill>
                <a:latin typeface="Aptos"/>
              </a:rPr>
              <a:t>Dipimed 500 mg — 20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78608"/>
            <a:ext cx="32004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D6270"/>
                </a:solidFill>
                <a:latin typeface="Aptos"/>
              </a:rPr>
              <a:t>Drogaria Poupaqui próxima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154680"/>
            <a:ext cx="12801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D6270"/>
                </a:solidFill>
                <a:latin typeface="Aptos"/>
              </a:rPr>
              <a:t>1 unidade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788920"/>
            <a:ext cx="1188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2300" b="1">
                <a:solidFill>
                  <a:srgbClr val="CC0A2E"/>
                </a:solidFill>
                <a:latin typeface="Aptos"/>
              </a:rPr>
              <a:t>R$ 4,99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2461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956816"/>
            <a:ext cx="23774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15161E"/>
                </a:solidFill>
                <a:latin typeface="Aptos"/>
              </a:rPr>
              <a:t>Resumo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23744"/>
            <a:ext cx="114300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D6270"/>
                </a:solidFill>
                <a:latin typeface="Aptos"/>
              </a:rPr>
              <a:t>Produtos
Entrega
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523744"/>
            <a:ext cx="141732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5161E"/>
                </a:solidFill>
                <a:latin typeface="Aptos"/>
              </a:rPr>
              <a:t>R$ 4,99
Calculada no endereço
R$ 4,99 + entrega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412480" y="4114800"/>
            <a:ext cx="2697480" cy="566928"/>
          </a:xfrm>
          <a:prstGeom prst="round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CONTINUAR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69280"/>
            <a:ext cx="5486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CC0A2E"/>
                </a:solidFill>
                <a:latin typeface="Aptos Display"/>
              </a:rPr>
              <a:t>Para a loja: </a:t>
            </a:r>
            <a:r>
              <a:rPr sz="2000" b="0">
                <a:solidFill>
                  <a:srgbClr val="15161E"/>
                </a:solidFill>
                <a:latin typeface="Aptos Display"/>
              </a:rPr>
              <a:t>uma intenção virou pedido.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2688" y="91440"/>
            <a:ext cx="274320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Poupaqui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46304"/>
            <a:ext cx="3840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04487" y="155448"/>
            <a:ext cx="347472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D6270"/>
                </a:solidFill>
                <a:latin typeface="Aptos"/>
              </a:rPr>
              <a:t>🔎  Buscar item ou medicamento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100584"/>
            <a:ext cx="118872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Sua cesta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234440"/>
            <a:ext cx="58064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627632"/>
            <a:ext cx="4617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15161E"/>
                </a:solidFill>
                <a:latin typeface="Aptos"/>
              </a:rPr>
              <a:t>Só falta se identificar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148840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0">
                <a:solidFill>
                  <a:srgbClr val="5D6270"/>
                </a:solidFill>
                <a:latin typeface="Aptos"/>
              </a:rPr>
              <a:t>Rápido para o cliente. Seguro para a compra.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1648" y="2743200"/>
            <a:ext cx="4041648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5161E"/>
                </a:solidFill>
                <a:latin typeface="Aptos"/>
              </a:rPr>
              <a:t>G  CONTINUAR COM GOOGLE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3547872"/>
            <a:ext cx="4041648" cy="530352"/>
          </a:xfrm>
          <a:prstGeom prst="roundRect">
            <a:avLst/>
          </a:prstGeom>
          <a:solidFill>
            <a:srgbClr val="F7F7F9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3593592"/>
            <a:ext cx="34747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D6270"/>
                </a:solidFill>
                <a:latin typeface="Aptos"/>
              </a:rPr>
              <a:t>E-mail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41648" y="4251960"/>
            <a:ext cx="4041648" cy="530352"/>
          </a:xfrm>
          <a:prstGeom prst="roundRect">
            <a:avLst/>
          </a:prstGeom>
          <a:solidFill>
            <a:srgbClr val="F7F7F9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4297680"/>
            <a:ext cx="34747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D6270"/>
                </a:solidFill>
                <a:latin typeface="Aptos"/>
              </a:rPr>
              <a:t>Senha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4041648" y="5047488"/>
            <a:ext cx="4041648" cy="594360"/>
          </a:xfrm>
          <a:prstGeom prst="round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ENTRAR E CONTINUAR 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62179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0">
                <a:solidFill>
                  <a:srgbClr val="5D6270"/>
                </a:solidFill>
                <a:latin typeface="Aptos"/>
              </a:rPr>
              <a:t>O cadastro cria relacionamento e facilita a próxima compra.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2688" y="91440"/>
            <a:ext cx="274320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Poupaqui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46304"/>
            <a:ext cx="3840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04487" y="155448"/>
            <a:ext cx="347472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D6270"/>
                </a:solidFill>
                <a:latin typeface="Aptos"/>
              </a:rPr>
              <a:t>🔎  Buscar item ou medicamento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100584"/>
            <a:ext cx="118872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Sua cesta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15568"/>
            <a:ext cx="54864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5161E"/>
                </a:solidFill>
                <a:latin typeface="Aptos"/>
              </a:rPr>
              <a:t>Como você quer receber?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901952"/>
            <a:ext cx="4800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C0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04288"/>
            <a:ext cx="109728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4400" b="0">
                <a:solidFill>
                  <a:srgbClr val="15161E"/>
                </a:solidFill>
                <a:latin typeface="Aptos"/>
              </a:rPr>
              <a:t>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267712"/>
            <a:ext cx="25603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CC0A2E"/>
                </a:solidFill>
                <a:latin typeface="Aptos"/>
              </a:rPr>
              <a:t>Receber em casa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926080"/>
            <a:ext cx="24688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D6270"/>
                </a:solidFill>
                <a:latin typeface="Aptos"/>
              </a:rPr>
              <a:t>A loja mais adequada prepara o pedido e envia para o endereço informado.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2606040" y="4224528"/>
            <a:ext cx="2423160" cy="530352"/>
          </a:xfrm>
          <a:prstGeom prst="round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ESCOLHER ENTREGA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01952"/>
            <a:ext cx="4800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304288"/>
            <a:ext cx="109728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4400" b="0">
                <a:solidFill>
                  <a:srgbClr val="15161E"/>
                </a:solidFill>
                <a:latin typeface="Aptos"/>
              </a:rPr>
              <a:t>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267712"/>
            <a:ext cx="25603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15161E"/>
                </a:solidFill>
                <a:latin typeface="Aptos"/>
              </a:rPr>
              <a:t>Retirar na loja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926080"/>
            <a:ext cx="24231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D6270"/>
                </a:solidFill>
                <a:latin typeface="Aptos"/>
              </a:rPr>
              <a:t>O cliente compra pelo celular e passa apenas para retirar quando estiver pronto.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046720" y="4224528"/>
            <a:ext cx="2423160" cy="530352"/>
          </a:xfrm>
          <a:prstGeom prst="roundRect">
            <a:avLst/>
          </a:prstGeom>
          <a:solidFill>
            <a:srgbClr val="15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ESCOLHER RETIRADA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5833872"/>
            <a:ext cx="56692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CC0A2E"/>
                </a:solidFill>
                <a:latin typeface="Aptos"/>
              </a:rPr>
              <a:t>Dois caminhos. A mesma venda para o licenciado.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2688" y="91440"/>
            <a:ext cx="274320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Poupaqui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46304"/>
            <a:ext cx="3840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04487" y="155448"/>
            <a:ext cx="347472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D6270"/>
                </a:solidFill>
                <a:latin typeface="Aptos"/>
              </a:rPr>
              <a:t>🔎  Buscar item ou medicamento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100584"/>
            <a:ext cx="118872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Sua cesta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45720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5161E"/>
                </a:solidFill>
                <a:latin typeface="Aptos"/>
              </a:rPr>
              <a:t>Escolha como pagar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19072"/>
            <a:ext cx="6537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15161E"/>
                </a:solidFill>
                <a:latin typeface="Aptos"/>
              </a:rPr>
              <a:t>Forma de pagamento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697480"/>
            <a:ext cx="5349240" cy="786384"/>
          </a:xfrm>
          <a:prstGeom prst="roundRect">
            <a:avLst/>
          </a:prstGeom>
          <a:solidFill>
            <a:srgbClr val="EAFAF1"/>
          </a:solidFill>
          <a:ln>
            <a:solidFill>
              <a:srgbClr val="15A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2816352"/>
            <a:ext cx="1828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15A555"/>
                </a:solidFill>
                <a:latin typeface="Aptos"/>
              </a:rPr>
              <a:t>◆  Pix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816352"/>
            <a:ext cx="21031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5D6270"/>
                </a:solidFill>
                <a:latin typeface="Aptos"/>
              </a:rPr>
              <a:t>Rápido e confirmado na hora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730752"/>
            <a:ext cx="5349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3849624"/>
            <a:ext cx="1828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15161E"/>
                </a:solidFill>
                <a:latin typeface="Aptos"/>
              </a:rPr>
              <a:t>▣  Cartão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849624"/>
            <a:ext cx="21031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5D6270"/>
                </a:solidFill>
                <a:latin typeface="Aptos"/>
              </a:rPr>
              <a:t>Crédito ou débito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719072"/>
            <a:ext cx="3429000" cy="4343400"/>
          </a:xfrm>
          <a:prstGeom prst="roundRect">
            <a:avLst/>
          </a:prstGeom>
          <a:solidFill>
            <a:srgbClr val="15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057400"/>
            <a:ext cx="25603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Seu pedido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743200"/>
            <a:ext cx="10058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Produto
Entrega
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743200"/>
            <a:ext cx="118872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400" b="1">
                <a:solidFill>
                  <a:srgbClr val="F5C842"/>
                </a:solidFill>
                <a:latin typeface="Aptos"/>
              </a:rPr>
              <a:t>R$ 4,99
R$ 6,00
R$ 10,99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8275320" y="4892040"/>
            <a:ext cx="2606040" cy="594360"/>
          </a:xfrm>
          <a:prstGeom prst="round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5161E"/>
                </a:solidFill>
                <a:latin typeface="Aptos"/>
              </a:rPr>
              <a:t>PAGAR COM PIX 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0"/>
          </a:xfrm>
          <a:prstGeom prst="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57800" y="1170432"/>
            <a:ext cx="1645920" cy="1325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6600" b="1">
                <a:solidFill>
                  <a:srgbClr val="15A555"/>
                </a:solidFill>
                <a:latin typeface="Aptos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6217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100" b="1">
                <a:solidFill>
                  <a:srgbClr val="15161E"/>
                </a:solidFill>
                <a:latin typeface="Aptos"/>
              </a:rPr>
              <a:t>Pedido confirmado!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999232"/>
            <a:ext cx="6217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0">
                <a:solidFill>
                  <a:srgbClr val="5D6270"/>
                </a:solidFill>
                <a:latin typeface="Aptos"/>
              </a:rPr>
              <a:t>A loja já recebeu e vai começar a separação.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22191" y="3703320"/>
            <a:ext cx="4526280" cy="1051560"/>
          </a:xfrm>
          <a:prstGeom prst="roundRect">
            <a:avLst/>
          </a:prstGeom>
          <a:solidFill>
            <a:srgbClr val="F7F7F9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3886200"/>
            <a:ext cx="40233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15161E"/>
                </a:solidFill>
                <a:latin typeface="Aptos"/>
              </a:rPr>
              <a:t>Pedido #PQ-2048   •   Total R$ 10,99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251960" y="5230368"/>
            <a:ext cx="3657600" cy="621792"/>
          </a:xfrm>
          <a:prstGeom prst="round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ACOMPANHAR PEDIDO 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6080760"/>
            <a:ext cx="66751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5D6270"/>
                </a:solidFill>
                <a:latin typeface="Aptos"/>
              </a:rPr>
              <a:t>O consumidor sente segurança. A loja ganha tempo e organização.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49808"/>
          </a:xfrm>
          <a:prstGeom prst="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2688" y="91440"/>
            <a:ext cx="274320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Poupaqui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46304"/>
            <a:ext cx="3840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04487" y="155448"/>
            <a:ext cx="347472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5D6270"/>
                </a:solidFill>
                <a:latin typeface="Aptos"/>
              </a:rPr>
              <a:t>🔎  Buscar item ou medicamento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100584"/>
            <a:ext cx="118872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Sua cesta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45720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15161E"/>
                </a:solidFill>
                <a:latin typeface="Aptos"/>
              </a:rPr>
              <a:t>Acompanhe seu pedido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920240"/>
            <a:ext cx="100584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9" y="2788920"/>
            <a:ext cx="1828800" cy="54864"/>
          </a:xfrm>
          <a:prstGeom prst="rect">
            <a:avLst/>
          </a:prstGeom>
          <a:solidFill>
            <a:srgbClr val="15A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" y="2331720"/>
            <a:ext cx="731520" cy="731520"/>
          </a:xfrm>
          <a:prstGeom prst="ellipse">
            <a:avLst/>
          </a:prstGeom>
          <a:solidFill>
            <a:srgbClr val="15A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" y="2359152"/>
            <a:ext cx="62179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28598" y="3310128"/>
            <a:ext cx="11887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5161E"/>
                </a:solidFill>
                <a:latin typeface="Aptos"/>
              </a:rPr>
              <a:t>Recebido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72" y="2788920"/>
            <a:ext cx="1828800" cy="54864"/>
          </a:xfrm>
          <a:prstGeom prst="rect">
            <a:avLst/>
          </a:prstGeom>
          <a:solidFill>
            <a:srgbClr val="15A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" y="2331720"/>
            <a:ext cx="731520" cy="731520"/>
          </a:xfrm>
          <a:prstGeom prst="ellipse">
            <a:avLst/>
          </a:prstGeom>
          <a:solidFill>
            <a:srgbClr val="15A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8" y="2359152"/>
            <a:ext cx="62179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228595" y="3310128"/>
            <a:ext cx="11887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5161E"/>
                </a:solidFill>
                <a:latin typeface="Aptos"/>
              </a:rPr>
              <a:t>Separando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75" y="2788920"/>
            <a:ext cx="1828800" cy="54864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" y="2331720"/>
            <a:ext cx="731520" cy="731520"/>
          </a:xfrm>
          <a:prstGeom prst="ellipse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71" y="2359152"/>
            <a:ext cx="62179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228592" y="3310128"/>
            <a:ext cx="11887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5161E"/>
                </a:solidFill>
                <a:latin typeface="Aptos"/>
              </a:rPr>
              <a:t>Saiu para entrega</a:t>
            </a:r>
          </a:p>
        </p:txBody>
      </p:sp>
      <p:sp>
        <p:nvSpPr>
          <p:cNvPr id="22" name="Oval 21"/>
          <p:cNvSpPr/>
          <p:nvPr/>
        </p:nvSpPr>
        <p:spPr>
          <a:xfrm>
            <a:off x="9" y="2331720"/>
            <a:ext cx="731520" cy="731520"/>
          </a:xfrm>
          <a:prstGeom prst="ellipse">
            <a:avLst/>
          </a:prstGeom>
          <a:solidFill>
            <a:srgbClr val="B4B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73" y="2359152"/>
            <a:ext cx="62179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228590" y="3310128"/>
            <a:ext cx="11887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5161E"/>
                </a:solidFill>
                <a:latin typeface="Aptos"/>
              </a:rPr>
              <a:t>Entregue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343400"/>
            <a:ext cx="813816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0">
                <a:solidFill>
                  <a:srgbClr val="5D6270"/>
                </a:solidFill>
                <a:latin typeface="Aptos"/>
              </a:rPr>
              <a:t>O cliente sabe o que está acontecendo sem precisar telefonar para a loja.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4251960" y="5650992"/>
            <a:ext cx="3657600" cy="594360"/>
          </a:xfrm>
          <a:prstGeom prst="round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CONCLUIR EXPERIÊNCIA 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75488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900" b="1">
                <a:solidFill>
                  <a:srgbClr val="F5C842"/>
                </a:solidFill>
                <a:latin typeface="Aptos"/>
              </a:rPr>
              <a:t>Em poucos cliques…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28800"/>
            <a:ext cx="48463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O cliente encontrou.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48463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A loja vendeu.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657600"/>
            <a:ext cx="566928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5C842"/>
                </a:solidFill>
                <a:latin typeface="Aptos"/>
              </a:rPr>
              <a:t>A marca ficou mais forte.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078992"/>
            <a:ext cx="3154680" cy="4526280"/>
          </a:xfrm>
          <a:prstGeom prst="round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508760"/>
            <a:ext cx="15087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697480"/>
            <a:ext cx="224028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nova porta de 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685032"/>
            <a:ext cx="224028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5C842"/>
                </a:solidFill>
                <a:latin typeface="Aptos"/>
              </a:rPr>
              <a:t>para cada loja licenciada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3886200" y="5687568"/>
            <a:ext cx="4343400" cy="585216"/>
          </a:xfrm>
          <a:prstGeom prst="round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5161E"/>
                </a:solidFill>
                <a:latin typeface="Aptos"/>
              </a:rPr>
              <a:t>VER O QUE A LOJA GANHA 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68580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320040"/>
            <a:ext cx="6400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CC0A2E"/>
                </a:solidFill>
                <a:latin typeface="Aptos"/>
              </a:rPr>
              <a:t>O que muda para o licenciado?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44168"/>
            <a:ext cx="5029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0">
                <a:solidFill>
                  <a:srgbClr val="15161E"/>
                </a:solidFill>
                <a:latin typeface="Aptos"/>
              </a:rPr>
              <a:t>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53312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CC0A2E"/>
                </a:solidFill>
                <a:latin typeface="Aptos"/>
              </a:rPr>
              <a:t>Mais visibilidade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10512"/>
            <a:ext cx="218541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270"/>
                </a:solidFill>
                <a:latin typeface="Aptos"/>
              </a:rPr>
              <a:t>A loja aparece para pessoas próximas no momento da busca.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23444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344168"/>
            <a:ext cx="5029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0">
                <a:solidFill>
                  <a:srgbClr val="15161E"/>
                </a:solidFill>
                <a:latin typeface="Aptos"/>
              </a:rPr>
              <a:t>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2" y="1353312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CC0A2E"/>
                </a:solidFill>
                <a:latin typeface="Aptos"/>
              </a:rPr>
              <a:t>Mais oportunidades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1810512"/>
            <a:ext cx="218541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270"/>
                </a:solidFill>
                <a:latin typeface="Aptos"/>
              </a:rPr>
              <a:t>O catálogo vira uma nova porta de entrada para pedidos.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123444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344168"/>
            <a:ext cx="5029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0">
                <a:solidFill>
                  <a:srgbClr val="15161E"/>
                </a:solidFill>
                <a:latin typeface="Aptos"/>
              </a:rPr>
              <a:t>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864" y="1353312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CC0A2E"/>
                </a:solidFill>
                <a:latin typeface="Aptos"/>
              </a:rPr>
              <a:t>Conveniência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1810512"/>
            <a:ext cx="218541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270"/>
                </a:solidFill>
                <a:latin typeface="Aptos"/>
              </a:rPr>
              <a:t>O cliente inicia a compra quando e onde for melhor para ele.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3416" y="123444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1344168"/>
            <a:ext cx="5029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0">
                <a:solidFill>
                  <a:srgbClr val="15161E"/>
                </a:solidFill>
                <a:latin typeface="Aptos"/>
              </a:rP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1353312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CC0A2E"/>
                </a:solidFill>
                <a:latin typeface="Aptos"/>
              </a:rPr>
              <a:t>Relacionamento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1810512"/>
            <a:ext cx="218541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270"/>
                </a:solidFill>
                <a:latin typeface="Aptos"/>
              </a:rPr>
              <a:t>A compra acontece dentro do ambiente oficial da marca.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06324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72968"/>
            <a:ext cx="5029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0">
                <a:solidFill>
                  <a:srgbClr val="15161E"/>
                </a:solidFill>
                <a:latin typeface="Aptos"/>
              </a:rPr>
              <a:t>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182112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CC0A2E"/>
                </a:solidFill>
                <a:latin typeface="Aptos"/>
              </a:rPr>
              <a:t>Força 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3639312"/>
            <a:ext cx="218541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270"/>
                </a:solidFill>
                <a:latin typeface="Aptos"/>
              </a:rPr>
              <a:t>A loja física continua sendo o centro do atendimento e da entrega.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0712" y="306324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3172968"/>
            <a:ext cx="5029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0">
                <a:solidFill>
                  <a:srgbClr val="15161E"/>
                </a:solidFill>
                <a:latin typeface="Aptos"/>
              </a:rPr>
              <a:t>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3182112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CC0A2E"/>
                </a:solidFill>
                <a:latin typeface="Aptos"/>
              </a:rPr>
              <a:t>Promoções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3639312"/>
            <a:ext cx="218541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270"/>
                </a:solidFill>
                <a:latin typeface="Aptos"/>
              </a:rPr>
              <a:t>Ofertas, banners e cupons ajudam a movimentar o estoque.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306324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3172968"/>
            <a:ext cx="5029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0">
                <a:solidFill>
                  <a:srgbClr val="15161E"/>
                </a:solidFill>
                <a:latin typeface="Aptos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864" y="3182112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CC0A2E"/>
                </a:solidFill>
                <a:latin typeface="Aptos"/>
              </a:rPr>
              <a:t>Decisões melhores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3639312"/>
            <a:ext cx="218541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270"/>
                </a:solidFill>
                <a:latin typeface="Aptos"/>
              </a:rPr>
              <a:t>A loja acompanha pedidos, clientes e produtos procurados.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43416" y="306324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0576" y="3172968"/>
            <a:ext cx="5029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0">
                <a:solidFill>
                  <a:srgbClr val="15161E"/>
                </a:solidFill>
                <a:latin typeface="Aptos"/>
              </a:rPr>
              <a:t>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9216" y="3182112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CC0A2E"/>
                </a:solidFill>
                <a:latin typeface="Aptos"/>
              </a:rPr>
              <a:t>Marca preparada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8" y="3639312"/>
            <a:ext cx="218541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270"/>
                </a:solidFill>
                <a:latin typeface="Aptos"/>
              </a:rPr>
              <a:t>A rede cresce no físico e no digital ao mesmo tempo.</a:t>
            </a:r>
          </a:p>
        </p:txBody>
      </p:sp>
      <p:sp>
        <p:nvSpPr>
          <p:cNvPr id="36" name="Rounded Rectangle 35">
            <a:hlinkClick action="ppaction://hlinksldjump" r:id="rId3"/>
          </p:cNvPr>
          <p:cNvSpPr/>
          <p:nvPr/>
        </p:nvSpPr>
        <p:spPr>
          <a:xfrm>
            <a:off x="4370832" y="5687568"/>
            <a:ext cx="3456432" cy="594360"/>
          </a:xfrm>
          <a:prstGeom prst="round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POR QUE AGORA? 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51560"/>
          </a:xfrm>
          <a:prstGeom prst="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7320" y="237744"/>
            <a:ext cx="97840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O consumidor já escolheu o digital como parte da rotina.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429000" cy="2971800"/>
          </a:xfrm>
          <a:prstGeom prst="roundRect">
            <a:avLst/>
          </a:prstGeom>
          <a:solidFill>
            <a:srgbClr val="F7F7F9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93392"/>
            <a:ext cx="301752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100" b="1">
                <a:solidFill>
                  <a:srgbClr val="CC0A2E"/>
                </a:solidFill>
                <a:latin typeface="Aptos"/>
              </a:rPr>
              <a:t>R$ 21,58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2788920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5D6270"/>
                </a:solidFill>
                <a:latin typeface="Aptos"/>
              </a:rPr>
              <a:t>em vendas digitais no varejo farmacêutico acompanhado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1600200"/>
            <a:ext cx="3429000" cy="2971800"/>
          </a:xfrm>
          <a:prstGeom prst="roundRect">
            <a:avLst/>
          </a:prstGeom>
          <a:solidFill>
            <a:srgbClr val="F7F7F9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91456" y="1993392"/>
            <a:ext cx="301752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100" b="1">
                <a:solidFill>
                  <a:srgbClr val="CC0A2E"/>
                </a:solidFill>
                <a:latin typeface="Aptos"/>
              </a:rPr>
              <a:t>+54,82%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2971800"/>
            <a:ext cx="2788920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5D6270"/>
                </a:solidFill>
                <a:latin typeface="Aptos"/>
              </a:rPr>
              <a:t>de crescimento das vendas digitais em 12 meses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03336" y="1600200"/>
            <a:ext cx="3429000" cy="2971800"/>
          </a:xfrm>
          <a:prstGeom prst="roundRect">
            <a:avLst/>
          </a:prstGeom>
          <a:solidFill>
            <a:srgbClr val="F7F7F9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04504" y="1993392"/>
            <a:ext cx="301752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100" b="1">
                <a:solidFill>
                  <a:srgbClr val="CC0A2E"/>
                </a:solidFill>
                <a:latin typeface="Aptos"/>
              </a:rPr>
              <a:t>+39,85%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376" y="2971800"/>
            <a:ext cx="2788920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5D6270"/>
                </a:solidFill>
                <a:latin typeface="Aptos"/>
              </a:rPr>
              <a:t>de crescimento dos consumidores no canal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28032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50" b="0">
                <a:solidFill>
                  <a:srgbClr val="5D6270"/>
                </a:solidFill>
                <a:latin typeface="Aptos"/>
              </a:rPr>
              <a:t>Fonte: Abrafarma, dados de dezembro/2024 a novembro/2025, publicados em 15/01/2026.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4924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15161E"/>
                </a:solidFill>
                <a:latin typeface="Aptos Display"/>
              </a:rPr>
              <a:t>Não é sobre trocar a loja física. </a:t>
            </a:r>
            <a:r>
              <a:rPr sz="2300" b="1">
                <a:solidFill>
                  <a:srgbClr val="CC0A2E"/>
                </a:solidFill>
                <a:latin typeface="Aptos Display"/>
              </a:rPr>
              <a:t>É sobre não deixar a venda digital passar.</a:t>
            </a:r>
          </a:p>
        </p:txBody>
      </p:sp>
      <p:sp>
        <p:nvSpPr>
          <p:cNvPr id="16" name="Rounded Rectangle 15">
            <a:hlinkClick action="ppaction://hlinksldjump" r:id="rId3"/>
          </p:cNvPr>
          <p:cNvSpPr/>
          <p:nvPr/>
        </p:nvSpPr>
        <p:spPr>
          <a:xfrm>
            <a:off x="4617720" y="6053328"/>
            <a:ext cx="2926080" cy="512064"/>
          </a:xfrm>
          <a:prstGeom prst="round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CONTINUAR 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68580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5880" y="320040"/>
            <a:ext cx="6400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CC0A2E"/>
                </a:solidFill>
                <a:latin typeface="Aptos"/>
              </a:rPr>
              <a:t>A participação da loja é simples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50292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15161E"/>
                </a:solidFill>
                <a:latin typeface="Aptos"/>
              </a:rPr>
              <a:t>A loja cuida do que já conhece bem: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83080"/>
            <a:ext cx="475488" cy="475488"/>
          </a:xfrm>
          <a:prstGeom prst="ellipse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92224"/>
            <a:ext cx="3840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764792"/>
            <a:ext cx="4297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15161E"/>
                </a:solidFill>
                <a:latin typeface="Aptos"/>
              </a:rPr>
              <a:t>Manter preços e estoque atualizados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24328"/>
            <a:ext cx="475488" cy="475488"/>
          </a:xfrm>
          <a:prstGeom prst="ellipse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33472"/>
            <a:ext cx="3840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606040"/>
            <a:ext cx="4297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15161E"/>
                </a:solidFill>
                <a:latin typeface="Aptos"/>
              </a:rPr>
              <a:t>Acompanhar os novos pedidos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65576"/>
            <a:ext cx="475488" cy="475488"/>
          </a:xfrm>
          <a:prstGeom prst="ellipse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3840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447288"/>
            <a:ext cx="4297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15161E"/>
                </a:solidFill>
                <a:latin typeface="Aptos"/>
              </a:rPr>
              <a:t>Separar com atenção e rapidez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06824"/>
            <a:ext cx="475488" cy="475488"/>
          </a:xfrm>
          <a:prstGeom prst="ellipse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315968"/>
            <a:ext cx="3840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288536"/>
            <a:ext cx="4297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15161E"/>
                </a:solidFill>
                <a:latin typeface="Aptos"/>
              </a:rPr>
              <a:t>Entregar ou deixar pronto para retirada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1143000"/>
            <a:ext cx="4800600" cy="4343400"/>
          </a:xfrm>
          <a:prstGeom prst="roundRect">
            <a:avLst/>
          </a:prstGeom>
          <a:solidFill>
            <a:srgbClr val="15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1572768"/>
            <a:ext cx="38404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5C842"/>
                </a:solidFill>
                <a:latin typeface="Aptos"/>
              </a:rPr>
              <a:t>A Licence Farma cuida da experiência digital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651760"/>
            <a:ext cx="347472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✓ Presença oficial da marca
✓ Organização da jornada de compra
✓ Evolução contínua da plataforma
✓ Apoio para colocar novas lojas no 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828032"/>
            <a:ext cx="3840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Cada um faz sua parte. Todos crescem juntos.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4480560" y="5870448"/>
            <a:ext cx="3246120" cy="566928"/>
          </a:xfrm>
          <a:prstGeom prst="roundRect">
            <a:avLst/>
          </a:prstGeom>
          <a:solidFill>
            <a:srgbClr val="CC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VER NO CELULAR 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3200400" cy="6035040"/>
          </a:xfrm>
          <a:prstGeom prst="roundRect">
            <a:avLst/>
          </a:prstGeom>
          <a:solidFill>
            <a:srgbClr val="08080C"/>
          </a:solidFill>
          <a:ln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ome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94360"/>
            <a:ext cx="2889504" cy="56509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43400" y="1005840"/>
            <a:ext cx="68580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Poupaqui sempre ao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1874519"/>
            <a:ext cx="594360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O consumidor pode instalar o site na tela do celular e abrir como um aplicativo.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315468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3264408"/>
            <a:ext cx="5029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0">
                <a:solidFill>
                  <a:srgbClr val="15161E"/>
                </a:solidFill>
                <a:latin typeface="Aptos"/>
              </a:rPr>
              <a:t>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273552"/>
            <a:ext cx="2103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CC0A2E"/>
                </a:solidFill>
                <a:latin typeface="Aptos"/>
              </a:rPr>
              <a:t>Um toque para abrir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3730752"/>
            <a:ext cx="259689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270"/>
                </a:solidFill>
                <a:latin typeface="Aptos"/>
              </a:rPr>
              <a:t>A marca fica presente na tela do cliente.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15468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3264408"/>
            <a:ext cx="5029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0">
                <a:solidFill>
                  <a:srgbClr val="15161E"/>
                </a:solidFill>
                <a:latin typeface="Aptos"/>
              </a:rPr>
              <a:t>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273552"/>
            <a:ext cx="2103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CC0A2E"/>
                </a:solidFill>
                <a:latin typeface="Aptos"/>
              </a:rPr>
              <a:t>Mais chances de voltar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730752"/>
            <a:ext cx="259689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270"/>
                </a:solidFill>
                <a:latin typeface="Aptos"/>
              </a:rPr>
              <a:t>A próxima compra começa ainda mais rápido.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5074920"/>
            <a:ext cx="60350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F5C842"/>
                </a:solidFill>
                <a:latin typeface="Aptos"/>
              </a:rPr>
              <a:t>Sem precisar procurar o endereço novamente.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4343400" y="5760720"/>
            <a:ext cx="5897880" cy="612648"/>
          </a:xfrm>
          <a:prstGeom prst="round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5161E"/>
                </a:solidFill>
                <a:latin typeface="Aptos"/>
              </a:rPr>
              <a:t>QUERO MINHA LOJA NESSA EXPERIÊNCIA  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0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upaqu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5488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"/>
              </a:rPr>
              <a:t>Sua loja já tem confiança, estoque e presença local.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31720"/>
            <a:ext cx="960120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300" b="1">
                <a:solidFill>
                  <a:srgbClr val="F5C842"/>
                </a:solidFill>
                <a:latin typeface="Aptos"/>
              </a:rPr>
              <a:t>Agora ela pode estar presente também no momento em que o cliente decide pelo celular.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3749039"/>
            <a:ext cx="82753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3913632"/>
            <a:ext cx="75438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CC0A2E"/>
                </a:solidFill>
                <a:latin typeface="Aptos"/>
              </a:rPr>
              <a:t>POUPAQUI ECOMMERCE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4343400"/>
            <a:ext cx="7543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0">
                <a:solidFill>
                  <a:srgbClr val="15161E"/>
                </a:solidFill>
                <a:latin typeface="Aptos"/>
              </a:rPr>
              <a:t>Uma nova porta para vender. A mesma confiança para atender.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2148840" y="5559552"/>
            <a:ext cx="3291840" cy="594360"/>
          </a:xfrm>
          <a:prstGeom prst="roundRect">
            <a:avLst/>
          </a:prstGeom>
          <a:solidFill>
            <a:srgbClr val="15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↻  REVER A EXPERIÊNCIA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6720840" y="5559552"/>
            <a:ext cx="3291840" cy="594360"/>
          </a:xfrm>
          <a:prstGeom prst="round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5161E"/>
                </a:solidFill>
                <a:latin typeface="Aptos"/>
              </a:rPr>
              <a:t>CONHECER O SITE 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Poupaqui Ecommerce — Experiência do consumidor para licenciados</dc:title>
  <dc:subject>Apresentação comercial interativa</dc:subject>
  <dc:creator>Poupaqui / Licence Farma</dc:creator>
  <cp:keywords>Poupaqui, ecommerce, licenciado, consumidor, apresentação interativa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