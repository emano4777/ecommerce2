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drogariaspoupaqui.com.br" TargetMode="External"/><Relationship Id="rId4" Type="http://schemas.openxmlformats.org/officeDocument/2006/relationships/slide" Target="slide3.xml"/><Relationship Id="rId5" Type="http://schemas.openxmlformats.org/officeDocument/2006/relationships/slide" Target="slide15.xml"/><Relationship Id="rId6" Type="http://schemas.openxmlformats.org/officeDocument/2006/relationships/slide" Target="slide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6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slide" Target="slide8.xml"/><Relationship Id="rId5" Type="http://schemas.openxmlformats.org/officeDocument/2006/relationships/slide" Target="slide2.xml"/><Relationship Id="rId6" Type="http://schemas.openxmlformats.org/officeDocument/2006/relationships/slide" Target="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9.xml"/><Relationship Id="rId4" Type="http://schemas.openxmlformats.org/officeDocument/2006/relationships/slide" Target="slide2.xml"/><Relationship Id="rId5" Type="http://schemas.openxmlformats.org/officeDocument/2006/relationships/slide" Target="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slide" Target="slide10.xml"/><Relationship Id="rId5" Type="http://schemas.openxmlformats.org/officeDocument/2006/relationships/slide" Target="slide2.xml"/><Relationship Id="rId6" Type="http://schemas.openxmlformats.org/officeDocument/2006/relationships/slide" Target="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1.xml"/><Relationship Id="rId4" Type="http://schemas.openxmlformats.org/officeDocument/2006/relationships/slide" Target="slide2.xml"/><Relationship Id="rId5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2.xml"/><Relationship Id="rId4" Type="http://schemas.openxmlformats.org/officeDocument/2006/relationships/slide" Target="slide2.xml"/><Relationship Id="rId5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3.xml"/><Relationship Id="rId4" Type="http://schemas.openxmlformats.org/officeDocument/2006/relationships/slide" Target="slide2.xml"/><Relationship Id="rId5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5.xml"/><Relationship Id="rId4" Type="http://schemas.openxmlformats.org/officeDocument/2006/relationships/slide" Target="slide2.xml"/><Relationship Id="rId5" Type="http://schemas.openxmlformats.org/officeDocument/2006/relationships/slide" Target="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" Target="slide2.xml"/><Relationship Id="rId5" Type="http://schemas.openxmlformats.org/officeDocument/2006/relationships/slide" Target="slide13.xml"/><Relationship Id="rId6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Relationship Id="rId4" Type="http://schemas.openxmlformats.org/officeDocument/2006/relationships/slide" Target="slide14.xml"/><Relationship Id="rId5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Relationship Id="rId4" Type="http://schemas.openxmlformats.org/officeDocument/2006/relationships/slide" Target="slide15.xml"/><Relationship Id="rId5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Relationship Id="rId4" Type="http://schemas.openxmlformats.org/officeDocument/2006/relationships/slide" Target="slide16.xml"/><Relationship Id="rId5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drogariaspoupaqui.com.br" TargetMode="External"/><Relationship Id="rId5" Type="http://schemas.openxmlformats.org/officeDocument/2006/relationships/slide" Target="slide3.xml"/><Relationship Id="rId6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me_desktop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9D0423"/>
          </a:solidFill>
          <a:ln>
            <a:solidFill>
              <a:srgbClr val="9D0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upaqu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1417320" cy="1417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234440"/>
            <a:ext cx="3063240" cy="310896"/>
          </a:xfrm>
          <a:prstGeom prst="roundRect">
            <a:avLst>
              <a:gd name="adj" fmla="val 18000"/>
            </a:avLst>
          </a:prstGeom>
          <a:solidFill>
            <a:srgbClr val="F8C624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06324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71923"/>
                </a:solidFill>
                <a:latin typeface="Aptos"/>
              </a:rPr>
              <a:t>LICENCE FARMA → LOJAS LICENCIADAS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50292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Sua loja na jornada
digital do consumidor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4892040" cy="1005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Clique e experimente como o cliente encontra, escolhe e compra — e veja o valor gerado para a sua unidade.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685800" y="4709160"/>
            <a:ext cx="3246120" cy="594360"/>
          </a:xfrm>
          <a:prstGeom prst="roundRect">
            <a:avLst>
              <a:gd name="adj" fmla="val 18000"/>
            </a:avLst>
          </a:prstGeom>
          <a:solidFill>
            <a:srgbClr val="F8C624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324612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171923"/>
                </a:solidFill>
                <a:latin typeface="Aptos"/>
              </a:rPr>
              <a:t>COMEÇAR A EXPERIÊNCIA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41148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Use em modo Apresentação (F5) para ativar os cliques.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Licence Farma apresenta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5943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71923"/>
                </a:solidFill>
                <a:latin typeface="Aptos"/>
              </a:rPr>
              <a:t>Escolha por onde começar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786384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646A7A"/>
                </a:solidFill>
                <a:latin typeface="Aptos"/>
              </a:rPr>
              <a:t>Você pode seguir a compra como consumidor ou ir direto aos ganhos da loja.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685800" y="2240280"/>
            <a:ext cx="3429000" cy="24231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48716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29260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171923"/>
                </a:solidFill>
                <a:latin typeface="Aptos"/>
              </a:rPr>
              <a:t>Viver a compra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28803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A7A"/>
                </a:solidFill>
                <a:latin typeface="Aptos"/>
              </a:rPr>
              <a:t>Navegue pela jornada completa, da busca à confirmação do pedido.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D0730"/>
                </a:solidFill>
                <a:latin typeface="Aptos"/>
              </a:rPr>
              <a:t>CLIQUE PARA ABRIR  →</a:t>
            </a: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4480560" y="2240280"/>
            <a:ext cx="3429000" cy="24231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60" y="248716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487168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182112"/>
            <a:ext cx="29260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171923"/>
                </a:solidFill>
                <a:latin typeface="Aptos"/>
              </a:rPr>
              <a:t>Entender o ganho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639312"/>
            <a:ext cx="28803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A7A"/>
                </a:solidFill>
                <a:latin typeface="Aptos"/>
              </a:rPr>
              <a:t>Veja como cada clique do consumidor cria oportunidade para a loja.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315968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71923"/>
                </a:solidFill>
                <a:latin typeface="Aptos"/>
              </a:rPr>
              <a:t>CLIQUE PARA ABRIR  →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8275320" y="2240280"/>
            <a:ext cx="3429000" cy="24231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0" y="248716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870CD"/>
          </a:solidFill>
          <a:ln>
            <a:solidFill>
              <a:srgbClr val="287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487168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82112"/>
            <a:ext cx="29260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171923"/>
                </a:solidFill>
                <a:latin typeface="Aptos"/>
              </a:rPr>
              <a:t>Conhecer o mercado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639312"/>
            <a:ext cx="28803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A7A"/>
                </a:solidFill>
                <a:latin typeface="Aptos"/>
              </a:rPr>
              <a:t>Dados que mostram por que o canal digital virou parte essencial da farmácia.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315968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870CD"/>
                </a:solidFill>
                <a:latin typeface="Aptos"/>
              </a:rPr>
              <a:t>CLIQUE PARA ABRIR  →</a:t>
            </a:r>
          </a:p>
        </p:txBody>
      </p:sp>
      <p:sp>
        <p:nvSpPr>
          <p:cNvPr id="26" name="Rounded Rectangle 25">
            <a:hlinkClick r:id="rId3"/>
          </p:cNvPr>
          <p:cNvSpPr/>
          <p:nvPr/>
        </p:nvSpPr>
        <p:spPr>
          <a:xfrm>
            <a:off x="4507992" y="5166360"/>
            <a:ext cx="3154680" cy="53035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5166360"/>
            <a:ext cx="31546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Abrir o e-commerce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 jornada começa com uma necessidade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24128"/>
            <a:ext cx="649224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71923"/>
                </a:solidFill>
                <a:latin typeface="Aptos"/>
              </a:rPr>
              <a:t>Imagine uma consumidora perto da sua loja…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719072"/>
            <a:ext cx="54864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900" b="0">
                <a:solidFill>
                  <a:srgbClr val="262A35"/>
                </a:solidFill>
                <a:latin typeface="Aptos"/>
              </a:rPr>
              <a:t>Mariana precisa repor um produto de cuidado diário. Em vez de sair procurando, ela pega o celular.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788920"/>
            <a:ext cx="477316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0">
                <a:solidFill>
                  <a:srgbClr val="262A35"/>
                </a:solidFill>
                <a:latin typeface="Aptos"/>
              </a:rPr>
              <a:t>Ela quer rapidez.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19272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319272"/>
            <a:ext cx="477316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0">
                <a:solidFill>
                  <a:srgbClr val="262A35"/>
                </a:solidFill>
                <a:latin typeface="Aptos"/>
              </a:rPr>
              <a:t>Quer saber se está disponível.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9624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849624"/>
            <a:ext cx="477316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0">
                <a:solidFill>
                  <a:srgbClr val="262A35"/>
                </a:solidFill>
                <a:latin typeface="Aptos"/>
              </a:rPr>
              <a:t>Quer escolher entrega ou retirada.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024128"/>
            <a:ext cx="4297680" cy="4480560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ome_mobile.png"/>
          <p:cNvPicPr>
            <a:picLocks noChangeAspect="1"/>
          </p:cNvPicPr>
          <p:nvPr/>
        </p:nvPicPr>
        <p:blipFill>
          <a:blip r:embed="rId3"/>
          <a:srcRect t="4828" b="4828"/>
          <a:stretch>
            <a:fillRect/>
          </a:stretch>
        </p:blipFill>
        <p:spPr>
          <a:xfrm>
            <a:off x="7927848" y="1234440"/>
            <a:ext cx="2057400" cy="402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59168" y="5513832"/>
            <a:ext cx="388620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CD0730"/>
                </a:solidFill>
                <a:latin typeface="Aptos"/>
              </a:rPr>
              <a:t>O próximo clique pode levar
para a sua loja.</a:t>
            </a:r>
          </a:p>
        </p:txBody>
      </p:sp>
      <p:sp>
        <p:nvSpPr>
          <p:cNvPr id="18" name="Rounded Rectangle 17">
            <a:hlinkClick action="ppaction://hlinksldjump" r:id="rId4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  <p:sp>
        <p:nvSpPr>
          <p:cNvPr id="22" name="Rounded Rectangle 21">
            <a:hlinkClick action="ppaction://hlinksldjump" r:id="rId5"/>
          </p:cNvPr>
          <p:cNvSpPr/>
          <p:nvPr/>
        </p:nvSpPr>
        <p:spPr>
          <a:xfrm>
            <a:off x="10488168" y="6281928"/>
            <a:ext cx="1371600" cy="34747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88168" y="6281928"/>
            <a:ext cx="137160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ABRIR O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me_desktop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593592" y="182880"/>
            <a:ext cx="3685032" cy="4389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228600"/>
            <a:ext cx="269748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CD0730"/>
                </a:solidFill>
                <a:latin typeface="Aptos"/>
              </a:rPr>
              <a:t>CLIQUE NA BUSCA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593592" y="137160"/>
            <a:ext cx="370332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0" y="5806440"/>
            <a:ext cx="3063240" cy="658368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9952" y="5879592"/>
            <a:ext cx="274320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 vitrine da rede já está pronta.
Agora a cliente pesquisa.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me_desktop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6120" y="1417320"/>
            <a:ext cx="5715000" cy="23317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1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11880" y="1709928"/>
            <a:ext cx="4983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171923"/>
                </a:solidFill>
                <a:latin typeface="Aptos"/>
              </a:rPr>
              <a:t>O que você está procurando?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67328" y="2304288"/>
            <a:ext cx="4663440" cy="566928"/>
          </a:xfrm>
          <a:prstGeom prst="roundRect">
            <a:avLst>
              <a:gd name="adj" fmla="val 18000"/>
            </a:avLst>
          </a:prstGeom>
          <a:solidFill>
            <a:srgbClr val="F7F7F9"/>
          </a:solidFill>
          <a:ln>
            <a:solidFill>
              <a:srgbClr val="D7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2304288"/>
            <a:ext cx="34747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0">
                <a:solidFill>
                  <a:srgbClr val="262A35"/>
                </a:solidFill>
                <a:latin typeface="Aptos"/>
              </a:rPr>
              <a:t>protetor solar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2304288"/>
            <a:ext cx="502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CD0730"/>
                </a:solidFill>
                <a:latin typeface="Aptos"/>
              </a:rPr>
              <a:t>⌕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3950208" y="3090672"/>
            <a:ext cx="4297680" cy="502920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3090672"/>
            <a:ext cx="429768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VER PRODUTOS PRÓXIMOS 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5072" y="3977639"/>
            <a:ext cx="4206240" cy="310896"/>
          </a:xfrm>
          <a:prstGeom prst="roundRect">
            <a:avLst>
              <a:gd name="adj" fmla="val 18000"/>
            </a:avLst>
          </a:prstGeom>
          <a:solidFill>
            <a:srgbClr val="F8C624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3977639"/>
            <a:ext cx="420624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71923"/>
                </a:solidFill>
                <a:latin typeface="Aptos"/>
              </a:rPr>
              <a:t>Busca por texto • voz • foto da embalagem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15" name="Rounded Rectangle 14">
            <a:hlinkClick action="ppaction://hlinksldjump" r:id="rId5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talogo_desktop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5870448"/>
            <a:ext cx="4709160" cy="62179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25312"/>
            <a:ext cx="434340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Produtos, preços e loja aparecem na mesma tela.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887968" y="5852160"/>
            <a:ext cx="2788920" cy="53035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7968" y="5852160"/>
            <a:ext cx="278892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ESCOLHER UMA OFERTA  →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868680" y="1225296"/>
            <a:ext cx="1828800" cy="3858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Detalhe do produto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1783080" cy="310896"/>
          </a:xfrm>
          <a:prstGeom prst="roundRect">
            <a:avLst>
              <a:gd name="adj" fmla="val 18000"/>
            </a:avLst>
          </a:prstGeom>
          <a:solidFill>
            <a:srgbClr val="F8C624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78308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71923"/>
                </a:solidFill>
                <a:latin typeface="Aptos"/>
              </a:rPr>
              <a:t>JORNADA ILUSTRATIVA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44752"/>
            <a:ext cx="4069080" cy="4389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rmocosmeticos.jpg"/>
          <p:cNvPicPr>
            <a:picLocks noChangeAspect="1"/>
          </p:cNvPicPr>
          <p:nvPr/>
        </p:nvPicPr>
        <p:blipFill>
          <a:blip r:embed="rId3"/>
          <a:srcRect t="27200" b="27200"/>
          <a:stretch>
            <a:fillRect/>
          </a:stretch>
        </p:blipFill>
        <p:spPr>
          <a:xfrm>
            <a:off x="960120" y="1755648"/>
            <a:ext cx="342900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38928" y="1508760"/>
            <a:ext cx="53949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71923"/>
                </a:solidFill>
                <a:latin typeface="Aptos"/>
              </a:rPr>
              <a:t>Produto de cuidado diário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048256"/>
            <a:ext cx="51663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F9D55"/>
                </a:solidFill>
                <a:latin typeface="Aptos"/>
              </a:rPr>
              <a:t>Disponível em uma loja Poupaqui próxima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679192"/>
            <a:ext cx="22402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CD0730"/>
                </a:solidFill>
                <a:latin typeface="Aptos"/>
              </a:rPr>
              <a:t>R$ 39,90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3182112"/>
            <a:ext cx="3749039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46A7A"/>
                </a:solidFill>
                <a:latin typeface="Aptos"/>
              </a:rPr>
              <a:t>Preço demonstrativo para simular a jornada.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3730752"/>
            <a:ext cx="1938528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730752"/>
            <a:ext cx="193852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71923"/>
                </a:solidFill>
                <a:latin typeface="Aptos"/>
              </a:rPr>
              <a:t>RETIRADA NA LOJA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3730752"/>
            <a:ext cx="1737360" cy="31089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3730752"/>
            <a:ext cx="17373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71923"/>
                </a:solidFill>
                <a:latin typeface="Aptos"/>
              </a:rPr>
              <a:t>ENTREGA LOCAL</a:t>
            </a:r>
          </a:p>
        </p:txBody>
      </p:sp>
      <p:sp>
        <p:nvSpPr>
          <p:cNvPr id="19" name="Rounded Rectangle 18">
            <a:hlinkClick action="ppaction://hlinksldjump" r:id="rId4"/>
          </p:cNvPr>
          <p:cNvSpPr/>
          <p:nvPr/>
        </p:nvSpPr>
        <p:spPr>
          <a:xfrm>
            <a:off x="5166360" y="4407408"/>
            <a:ext cx="3108960" cy="603504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4407408"/>
            <a:ext cx="3108960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ADICIONAR À CESTA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5257800"/>
            <a:ext cx="5715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62A35"/>
                </a:solidFill>
                <a:latin typeface="Aptos"/>
              </a:rPr>
              <a:t>Para a loja: produto certo + disponibilidade + conveniência = mais chance de conversão.</a:t>
            </a:r>
          </a:p>
        </p:txBody>
      </p:sp>
      <p:sp>
        <p:nvSpPr>
          <p:cNvPr id="22" name="Rounded Rectangle 21">
            <a:hlinkClick action="ppaction://hlinksldjump" r:id="rId5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24" name="Rounded Rectangle 23">
            <a:hlinkClick action="ppaction://hlinksldjump" r:id="rId6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Produto adicionado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08960" y="1325880"/>
            <a:ext cx="5989320" cy="4023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40680" y="1691640"/>
            <a:ext cx="1325880" cy="1325880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>
            <a:solidFill>
              <a:srgbClr val="1F9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691640"/>
            <a:ext cx="132588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182112"/>
            <a:ext cx="443484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171923"/>
                </a:solidFill>
                <a:latin typeface="Aptos"/>
              </a:rPr>
              <a:t>Produto adicionado à cesta!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730752"/>
            <a:ext cx="48006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0">
                <a:solidFill>
                  <a:srgbClr val="646A7A"/>
                </a:solidFill>
                <a:latin typeface="Aptos"/>
              </a:rPr>
              <a:t>A cliente pode continuar comprando ou concluir o pedido.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572000" y="4370832"/>
            <a:ext cx="3017520" cy="566928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370832"/>
            <a:ext cx="30175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IR PARA A CESTA  →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Sua cesta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47548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600" b="1">
                <a:solidFill>
                  <a:srgbClr val="171923"/>
                </a:solidFill>
                <a:latin typeface="Aptos"/>
              </a:rPr>
              <a:t>Revise seu pedido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7040880" cy="3337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rmocosmeticos.jpg"/>
          <p:cNvPicPr>
            <a:picLocks noChangeAspect="1"/>
          </p:cNvPicPr>
          <p:nvPr/>
        </p:nvPicPr>
        <p:blipFill>
          <a:blip r:embed="rId3"/>
          <a:srcRect t="14733" b="14733"/>
          <a:stretch>
            <a:fillRect/>
          </a:stretch>
        </p:blipFill>
        <p:spPr>
          <a:xfrm>
            <a:off x="914400" y="1901952"/>
            <a:ext cx="146304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70048" y="1901952"/>
            <a:ext cx="33375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71923"/>
                </a:solidFill>
                <a:latin typeface="Aptos"/>
              </a:rPr>
              <a:t>Produto de cuidado diário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331720"/>
            <a:ext cx="33375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646A7A"/>
                </a:solidFill>
                <a:latin typeface="Aptos"/>
              </a:rPr>
              <a:t>Vendido por Drogarias Poupaqui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2852928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2852928"/>
            <a:ext cx="14173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71923"/>
                </a:solidFill>
                <a:latin typeface="Aptos"/>
              </a:rPr>
              <a:t>−   1  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23160"/>
            <a:ext cx="141732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2000" b="1">
                <a:solidFill>
                  <a:srgbClr val="CD0730"/>
                </a:solidFill>
                <a:latin typeface="Aptos"/>
              </a:rPr>
              <a:t>R$ 39,90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627632"/>
            <a:ext cx="3493008" cy="3337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856231"/>
            <a:ext cx="2560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171923"/>
                </a:solidFill>
                <a:latin typeface="Aptos"/>
              </a:rPr>
              <a:t>Resumo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514600"/>
            <a:ext cx="16459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A7A"/>
                </a:solidFill>
                <a:latin typeface="Aptos"/>
              </a:rPr>
              <a:t>Produtos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2514600"/>
            <a:ext cx="114300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171923"/>
                </a:solidFill>
                <a:latin typeface="Aptos"/>
              </a:rPr>
              <a:t>R$ 39,90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971800"/>
            <a:ext cx="16459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A7A"/>
                </a:solidFill>
                <a:latin typeface="Aptos"/>
              </a:rPr>
              <a:t>Entrega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971800"/>
            <a:ext cx="1298448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171923"/>
                </a:solidFill>
                <a:latin typeface="Aptos"/>
              </a:rPr>
              <a:t>A calcular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8302752" y="3968496"/>
            <a:ext cx="2633472" cy="53035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968496"/>
            <a:ext cx="263347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CONTINUAR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85232"/>
            <a:ext cx="68580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62A35"/>
                </a:solidFill>
                <a:latin typeface="Aptos"/>
              </a:rPr>
              <a:t>A cesta mantém o consumidor conectado à loja até a conclusão.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Identificação rápida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005840"/>
            <a:ext cx="457200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71923"/>
                </a:solidFill>
                <a:latin typeface="Aptos"/>
              </a:rPr>
              <a:t>Entre ou crie sua conta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56692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646A7A"/>
                </a:solidFill>
                <a:latin typeface="Aptos"/>
              </a:rPr>
              <a:t>O cadastro conecta compra, acompanhamento e relacionamento futuro.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4663440" cy="31546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2415" y="2578608"/>
            <a:ext cx="3931920" cy="530352"/>
          </a:xfrm>
          <a:prstGeom prst="roundRect">
            <a:avLst>
              <a:gd name="adj" fmla="val 18000"/>
            </a:avLst>
          </a:prstGeom>
          <a:solidFill>
            <a:srgbClr val="F7F7F9"/>
          </a:solidFill>
          <a:ln>
            <a:solidFill>
              <a:srgbClr val="D7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578608"/>
            <a:ext cx="347472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646A7A"/>
                </a:solidFill>
                <a:latin typeface="Aptos"/>
              </a:rPr>
              <a:t>seu@email.com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2415" y="3310128"/>
            <a:ext cx="3931920" cy="530352"/>
          </a:xfrm>
          <a:prstGeom prst="roundRect">
            <a:avLst>
              <a:gd name="adj" fmla="val 18000"/>
            </a:avLst>
          </a:prstGeom>
          <a:solidFill>
            <a:srgbClr val="F7F7F9"/>
          </a:solidFill>
          <a:ln>
            <a:solidFill>
              <a:srgbClr val="D7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310128"/>
            <a:ext cx="347472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646A7A"/>
                </a:solidFill>
                <a:latin typeface="Aptos"/>
              </a:rPr>
              <a:t>••••••••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042415" y="4133087"/>
            <a:ext cx="3931920" cy="566928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4133087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ENTRAR E CONTINUAR 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874519"/>
            <a:ext cx="2487168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8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53912" y="205740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2057400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2020824"/>
            <a:ext cx="161848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171923"/>
                </a:solidFill>
                <a:latin typeface="Aptos"/>
              </a:rPr>
              <a:t>Histórico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359152"/>
            <a:ext cx="1618488" cy="7406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646A7A"/>
                </a:solidFill>
                <a:latin typeface="Aptos"/>
              </a:rPr>
              <a:t>O cliente encontra pedidos e recompra com facilidade.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874519"/>
            <a:ext cx="2487168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8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42832" y="205740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2057400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020824"/>
            <a:ext cx="161848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171923"/>
                </a:solidFill>
                <a:latin typeface="Aptos"/>
              </a:rPr>
              <a:t>Relacionamento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359152"/>
            <a:ext cx="1618488" cy="7406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646A7A"/>
                </a:solidFill>
                <a:latin typeface="Aptos"/>
              </a:rPr>
              <a:t>Cupons e notificações fortalecem a recorrência.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3520440"/>
            <a:ext cx="2487168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8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53912" y="370332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3912" y="3703320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666744"/>
            <a:ext cx="161848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171923"/>
                </a:solidFill>
                <a:latin typeface="Aptos"/>
              </a:rPr>
              <a:t>Confiança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4005072"/>
            <a:ext cx="1618488" cy="7406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646A7A"/>
                </a:solidFill>
                <a:latin typeface="Aptos"/>
              </a:rPr>
              <a:t>A compra fica vinculada à loja e ao atendimento da rede.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520440"/>
            <a:ext cx="2487168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8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42832" y="370332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42832" y="3703320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3666744"/>
            <a:ext cx="161848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171923"/>
                </a:solidFill>
                <a:latin typeface="Aptos"/>
              </a:rPr>
              <a:t>Conveniência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1472" y="4005072"/>
            <a:ext cx="1618488" cy="7406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646A7A"/>
                </a:solidFill>
                <a:latin typeface="Aptos"/>
              </a:rPr>
              <a:t>Dados já salvos tornam a próxima compra mais simples.</a:t>
            </a:r>
          </a:p>
        </p:txBody>
      </p:sp>
      <p:sp>
        <p:nvSpPr>
          <p:cNvPr id="36" name="Rounded Rectangle 35">
            <a:hlinkClick action="ppaction://hlinksldjump" r:id="rId4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38" name="Rounded Rectangle 37">
            <a:hlinkClick action="ppaction://hlinksldjump" r:id="rId5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Como deseja receber?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65836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71923"/>
                </a:solidFill>
                <a:latin typeface="Aptos"/>
              </a:rPr>
              <a:t>A cliente escolhe o que é mais conveniente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731520" y="1874519"/>
            <a:ext cx="4983480" cy="3017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DE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212848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12848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7" y="2167128"/>
            <a:ext cx="32461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171923"/>
                </a:solidFill>
                <a:latin typeface="Aptos"/>
              </a:rPr>
              <a:t>Retirar na loja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2761488"/>
            <a:ext cx="32004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646A7A"/>
                </a:solidFill>
                <a:latin typeface="Aptos"/>
              </a:rPr>
              <a:t>Aumenta o fluxo no ponto físico e elimina o custo de entrega.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7" y="4005072"/>
            <a:ext cx="201168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CD0730"/>
                </a:solidFill>
                <a:latin typeface="Aptos"/>
              </a:rPr>
              <a:t>SELECIONAR  →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6172200" y="1874519"/>
            <a:ext cx="4983480" cy="3017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DE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2212848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12848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2167128"/>
            <a:ext cx="32461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171923"/>
                </a:solidFill>
                <a:latin typeface="Aptos"/>
              </a:rPr>
              <a:t>Receber em casa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761488"/>
            <a:ext cx="32004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646A7A"/>
                </a:solidFill>
                <a:latin typeface="Aptos"/>
              </a:rPr>
              <a:t>Amplia o alcance da unidade para consumidores próximos.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8" y="4005072"/>
            <a:ext cx="201168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CD0730"/>
                </a:solidFill>
                <a:latin typeface="Aptos"/>
              </a:rPr>
              <a:t>SELECIONAR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285232"/>
            <a:ext cx="82296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262A35"/>
                </a:solidFill>
                <a:latin typeface="Aptos"/>
              </a:rPr>
              <a:t>A própria loja define raio, valor do frete, pedido mínimo e horários.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Pagamento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603504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71923"/>
                </a:solidFill>
                <a:latin typeface="Aptos"/>
              </a:rPr>
              <a:t>Pagamento simples e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8521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646A7A"/>
                </a:solidFill>
                <a:latin typeface="Aptos"/>
              </a:rPr>
              <a:t>A oferta de meios conhecidos reduz o atrito na hora de concluir.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2743200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DE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252374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>
            <a:solidFill>
              <a:srgbClr val="1F9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523744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395728"/>
            <a:ext cx="15087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71923"/>
                </a:solidFill>
                <a:latin typeface="Aptos"/>
              </a:rPr>
              <a:t>PIX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788920"/>
            <a:ext cx="153619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46A7A"/>
                </a:solidFill>
                <a:latin typeface="Aptos"/>
              </a:rPr>
              <a:t>Confirmação rápida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76472" y="2240280"/>
            <a:ext cx="2743200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DE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05072" y="252374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870CD"/>
          </a:solidFill>
          <a:ln>
            <a:solidFill>
              <a:srgbClr val="287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2523744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395728"/>
            <a:ext cx="150876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71923"/>
                </a:solidFill>
                <a:latin typeface="Aptos"/>
              </a:rPr>
              <a:t>CARTÃO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788920"/>
            <a:ext cx="1536192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46A7A"/>
                </a:solidFill>
                <a:latin typeface="Aptos"/>
              </a:rPr>
              <a:t>Crédito ou débito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1874519"/>
            <a:ext cx="3913632" cy="3200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DE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2148840"/>
            <a:ext cx="30632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171923"/>
                </a:solidFill>
                <a:latin typeface="Aptos"/>
              </a:rPr>
              <a:t>Resumo do pedido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2852928"/>
            <a:ext cx="164592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A7A"/>
                </a:solidFill>
                <a:latin typeface="Aptos"/>
              </a:rPr>
              <a:t>Produto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852928"/>
            <a:ext cx="100584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171923"/>
                </a:solidFill>
                <a:latin typeface="Aptos"/>
              </a:rPr>
              <a:t>R$ 39,90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3337560"/>
            <a:ext cx="20116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646A7A"/>
                </a:solidFill>
                <a:latin typeface="Aptos"/>
              </a:rPr>
              <a:t>Total demonstrativo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3337560"/>
            <a:ext cx="100584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600" b="1">
                <a:solidFill>
                  <a:srgbClr val="CD0730"/>
                </a:solidFill>
                <a:latin typeface="Aptos"/>
              </a:rPr>
              <a:t>R$ 39,90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7699248" y="4114800"/>
            <a:ext cx="3108960" cy="53035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4114800"/>
            <a:ext cx="31089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CONFIRMAR PEDIDO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603504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646A7A"/>
                </a:solidFill>
                <a:latin typeface="Aptos"/>
              </a:rPr>
              <a:t>Jornada ilustrativa: nenhuma cobrança será realizada nesta apresentação.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30" name="Rounded Rectangle 29">
            <a:hlinkClick action="ppaction://hlinksldjump" r:id="rId5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Pedido confirmado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59152" y="1133856"/>
            <a:ext cx="7479792" cy="4480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13248" y="155448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>
            <a:solidFill>
              <a:srgbClr val="1F9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13248" y="1554480"/>
            <a:ext cx="137160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063240"/>
            <a:ext cx="440740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800" b="1">
                <a:solidFill>
                  <a:srgbClr val="171923"/>
                </a:solidFill>
                <a:latin typeface="Aptos"/>
              </a:rPr>
              <a:t>Pedido confirmado!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675887"/>
            <a:ext cx="5230368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0">
                <a:solidFill>
                  <a:srgbClr val="646A7A"/>
                </a:solidFill>
                <a:latin typeface="Aptos"/>
              </a:rPr>
              <a:t>A loja recebe o pedido e a cliente acompanha cada etapa.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4407408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>
            <a:solidFill>
              <a:srgbClr val="1F9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4407408"/>
            <a:ext cx="13716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RECEBIDO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73168" y="4407408"/>
            <a:ext cx="1600200" cy="310896"/>
          </a:xfrm>
          <a:prstGeom prst="roundRect">
            <a:avLst>
              <a:gd name="adj" fmla="val 18000"/>
            </a:avLst>
          </a:prstGeom>
          <a:solidFill>
            <a:srgbClr val="F8C624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4407408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71923"/>
                </a:solidFill>
                <a:latin typeface="Aptos"/>
              </a:rPr>
              <a:t>EM SEPARAÇÃO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0256" y="4407408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4407408"/>
            <a:ext cx="13716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646A7A"/>
                </a:solidFill>
                <a:latin typeface="Aptos"/>
              </a:rPr>
              <a:t>A CAMINHO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407408"/>
            <a:ext cx="1170432" cy="310896"/>
          </a:xfrm>
          <a:prstGeom prst="roundRect">
            <a:avLst>
              <a:gd name="adj" fmla="val 18000"/>
            </a:avLst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407408"/>
            <a:ext cx="117043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646A7A"/>
                </a:solidFill>
                <a:latin typeface="Aptos"/>
              </a:rPr>
              <a:t>ENTREGUE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4343400" y="5074920"/>
            <a:ext cx="3520440" cy="475488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5074920"/>
            <a:ext cx="352044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VER O QUE A LOJA GANHA  →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Poupaqui sempre no celular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41832"/>
            <a:ext cx="65836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71923"/>
                </a:solidFill>
                <a:latin typeface="Aptos"/>
              </a:rPr>
              <a:t>O site também pode virar um ícone no celular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57784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262A35"/>
                </a:solidFill>
                <a:latin typeface="Aptos"/>
              </a:rPr>
              <a:t>Sem depender da loja de aplicativos: o consumidor instala como PWA e volta com um toque.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411480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CD0730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697480"/>
            <a:ext cx="4864608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262A35"/>
                </a:solidFill>
                <a:latin typeface="Aptos"/>
              </a:rPr>
              <a:t>Acessa o site pelo navegador.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00984"/>
            <a:ext cx="411480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CD0730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300984"/>
            <a:ext cx="4864608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262A35"/>
                </a:solidFill>
                <a:latin typeface="Aptos"/>
              </a:rPr>
              <a:t>Escolhe “Adicionar à tela inicial”.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04488"/>
            <a:ext cx="411480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CD0730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904488"/>
            <a:ext cx="4864608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262A35"/>
                </a:solidFill>
                <a:latin typeface="Aptos"/>
              </a:rPr>
              <a:t>O ícone Poupaqui fica disponível no celular.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932688"/>
            <a:ext cx="3246120" cy="501091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ome_mobile.png"/>
          <p:cNvPicPr>
            <a:picLocks noChangeAspect="1"/>
          </p:cNvPicPr>
          <p:nvPr/>
        </p:nvPicPr>
        <p:blipFill>
          <a:blip r:embed="rId3"/>
          <a:srcRect t="1303" b="1303"/>
          <a:stretch>
            <a:fillRect/>
          </a:stretch>
        </p:blipFill>
        <p:spPr>
          <a:xfrm>
            <a:off x="8028431" y="1188720"/>
            <a:ext cx="2103120" cy="4434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5138928"/>
            <a:ext cx="544068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CD0730"/>
                </a:solidFill>
                <a:latin typeface="Aptos"/>
              </a:rPr>
              <a:t>Mais facilidade para voltar.
Mais chances de recompra.</a:t>
            </a:r>
          </a:p>
        </p:txBody>
      </p:sp>
      <p:sp>
        <p:nvSpPr>
          <p:cNvPr id="18" name="Rounded Rectangle 17">
            <a:hlinkClick action="ppaction://hlinksldjump" r:id="rId4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10488168" y="6281928"/>
            <a:ext cx="1371600" cy="34747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88168" y="6281928"/>
            <a:ext cx="137160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GANHOS DA LOJA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O que acontece para a loja em cada clique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75895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71923"/>
                </a:solidFill>
                <a:latin typeface="Aptos"/>
              </a:rPr>
              <a:t>A experiência do consumidor vira oportunidade comercial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2029968" cy="205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16152" y="21396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139696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166420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71923"/>
                </a:solidFill>
                <a:latin typeface="Aptos"/>
              </a:rPr>
              <a:t>Busca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64408"/>
            <a:ext cx="1700784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50" b="0">
                <a:solidFill>
                  <a:srgbClr val="646A7A"/>
                </a:solidFill>
                <a:latin typeface="Aptos"/>
              </a:rPr>
              <a:t>Sua loja passa a ser encontrada.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874519"/>
            <a:ext cx="2029968" cy="205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47872" y="21396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139696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80360"/>
            <a:ext cx="166420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71923"/>
                </a:solidFill>
                <a:latin typeface="Aptos"/>
              </a:rPr>
              <a:t>Catálogo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3264408"/>
            <a:ext cx="1700784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50" b="0">
                <a:solidFill>
                  <a:srgbClr val="646A7A"/>
                </a:solidFill>
                <a:latin typeface="Aptos"/>
              </a:rPr>
              <a:t>Seu estoque ganha uma vitrine digital.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874519"/>
            <a:ext cx="2029968" cy="205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79592" y="21396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9592" y="2139696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80360"/>
            <a:ext cx="166420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71923"/>
                </a:solidFill>
                <a:latin typeface="Aptos"/>
              </a:rPr>
              <a:t>Escolha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3264408"/>
            <a:ext cx="1700784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50" b="0">
                <a:solidFill>
                  <a:srgbClr val="646A7A"/>
                </a:solidFill>
                <a:latin typeface="Aptos"/>
              </a:rPr>
              <a:t>Preço e conveniência ajudam a converter.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874519"/>
            <a:ext cx="2029968" cy="205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11311" y="21396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2139696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2880360"/>
            <a:ext cx="166420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71923"/>
                </a:solidFill>
                <a:latin typeface="Aptos"/>
              </a:rPr>
              <a:t>Pedido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3264408"/>
            <a:ext cx="1700784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50" b="0">
                <a:solidFill>
                  <a:srgbClr val="646A7A"/>
                </a:solidFill>
                <a:latin typeface="Aptos"/>
              </a:rPr>
              <a:t>A operação recebe uma nova venda.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874519"/>
            <a:ext cx="2029968" cy="205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43032" y="2139696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43032" y="2139696"/>
            <a:ext cx="603504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880360"/>
            <a:ext cx="166420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71923"/>
                </a:solidFill>
                <a:latin typeface="Aptos"/>
              </a:rPr>
              <a:t>Pós-venda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3264408"/>
            <a:ext cx="1700784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50" b="0">
                <a:solidFill>
                  <a:srgbClr val="646A7A"/>
                </a:solidFill>
                <a:latin typeface="Aptos"/>
              </a:rPr>
              <a:t>Histórico e comunicação apoiam a recompra.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617720"/>
            <a:ext cx="1005840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100" b="1">
                <a:solidFill>
                  <a:srgbClr val="CD0730"/>
                </a:solidFill>
                <a:latin typeface="Aptos"/>
              </a:rPr>
              <a:t>Sua loja física continua sendo o centro da operação. O digital acrescenta uma nova porta de entrada.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36" name="Rounded Rectangle 35">
            <a:hlinkClick action="ppaction://hlinksldjump" r:id="rId4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  <p:sp>
        <p:nvSpPr>
          <p:cNvPr id="38" name="Rounded Rectangle 37">
            <a:hlinkClick action="ppaction://hlinksldjump" r:id="rId5"/>
          </p:cNvPr>
          <p:cNvSpPr/>
          <p:nvPr/>
        </p:nvSpPr>
        <p:spPr>
          <a:xfrm>
            <a:off x="10488168" y="6281928"/>
            <a:ext cx="1371600" cy="34747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88168" y="6281928"/>
            <a:ext cx="137160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COMO FUNCIONA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Licence Farma + loja: parceria para vender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F7F7F9"/>
          </a:solidFill>
          <a:ln>
            <a:solidFill>
              <a:srgbClr val="F7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14400"/>
            <a:ext cx="64008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71923"/>
                </a:solidFill>
                <a:latin typeface="Aptos"/>
              </a:rPr>
              <a:t>Cada parte cuida do que faz melhor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30368" cy="3611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56816"/>
            <a:ext cx="448056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CD0730"/>
                </a:solidFill>
                <a:latin typeface="Aptos"/>
              </a:rPr>
              <a:t>LICENCE FARMA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578608"/>
            <a:ext cx="404164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262A35"/>
                </a:solidFill>
                <a:latin typeface="Aptos"/>
              </a:rPr>
              <a:t>Mantém e evolui a plataforma.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3108960"/>
            <a:ext cx="404164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262A35"/>
                </a:solidFill>
                <a:latin typeface="Aptos"/>
              </a:rPr>
              <a:t>Integra catálogo, estoque e serviços.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1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639311"/>
            <a:ext cx="404164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262A35"/>
                </a:solidFill>
                <a:latin typeface="Aptos"/>
              </a:rPr>
              <a:t>Apoia implantação, campanhas e suporte.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69663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169663"/>
            <a:ext cx="404164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262A35"/>
                </a:solidFill>
                <a:latin typeface="Aptos"/>
              </a:rPr>
              <a:t>Gera visão e padrões para a rede.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64208"/>
            <a:ext cx="5230368" cy="3611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E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956816"/>
            <a:ext cx="448056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71923"/>
                </a:solidFill>
                <a:latin typeface="Aptos"/>
              </a:rPr>
              <a:t>LOJA LICENCIADA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578608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2578608"/>
            <a:ext cx="404164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262A35"/>
                </a:solidFill>
                <a:latin typeface="Aptos"/>
              </a:rPr>
              <a:t>Mantém preço, estoque e horários corretos.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108960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108960"/>
            <a:ext cx="404164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262A35"/>
                </a:solidFill>
                <a:latin typeface="Aptos"/>
              </a:rPr>
              <a:t>Recebe, separa e acompanha pedidos.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639311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3639311"/>
            <a:ext cx="404164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262A35"/>
                </a:solidFill>
                <a:latin typeface="Aptos"/>
              </a:rPr>
              <a:t>Cuida da dispensação e do atendimento.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169663"/>
            <a:ext cx="411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CD0730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169663"/>
            <a:ext cx="4041648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262A35"/>
                </a:solidFill>
                <a:latin typeface="Aptos"/>
              </a:rPr>
              <a:t>Organiza retirada ou entrega local.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513832"/>
            <a:ext cx="95554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CD0730"/>
                </a:solidFill>
                <a:latin typeface="Aptos"/>
              </a:rPr>
              <a:t>Tecnologia central + execução local = experiência completa para o consumidor.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31" name="Rounded Rectangle 30">
            <a:hlinkClick action="ppaction://hlinksldjump" r:id="rId4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  <p:sp>
        <p:nvSpPr>
          <p:cNvPr id="33" name="Rounded Rectangle 32">
            <a:hlinkClick action="ppaction://hlinksldjump" r:id="rId5"/>
          </p:cNvPr>
          <p:cNvSpPr/>
          <p:nvPr/>
        </p:nvSpPr>
        <p:spPr>
          <a:xfrm>
            <a:off x="10488168" y="6281928"/>
            <a:ext cx="1371600" cy="34747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88168" y="6281928"/>
            <a:ext cx="137160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VER O MERCADO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100584"/>
            <a:ext cx="68580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Por que entrar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100584"/>
            <a:ext cx="214884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200" b="1">
                <a:solidFill>
                  <a:srgbClr val="F8C624"/>
                </a:solidFill>
                <a:latin typeface="Aptos"/>
              </a:rPr>
              <a:t>Apresentação interativa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695" cy="6236208"/>
          </a:xfrm>
          <a:prstGeom prst="rect">
            <a:avLst/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7498079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O consumidor farmacêutico já adotou o digital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2331720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9696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R$ 21,58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274320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em vendas digitais nas redes acompanhadas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23317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139696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900" b="1">
                <a:solidFill>
                  <a:srgbClr val="CD0730"/>
                </a:solidFill>
                <a:latin typeface="Aptos"/>
              </a:rPr>
              <a:t>+54,82%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80360"/>
            <a:ext cx="26974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>
                <a:solidFill>
                  <a:srgbClr val="262A35"/>
                </a:solidFill>
                <a:latin typeface="Aptos"/>
              </a:rPr>
              <a:t>de crescimento em 12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429000" cy="2331720"/>
          </a:xfrm>
          <a:prstGeom prst="roundRect">
            <a:avLst>
              <a:gd name="adj" fmla="val 18000"/>
            </a:avLst>
          </a:prstGeom>
          <a:solidFill>
            <a:srgbClr val="F8C624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139696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900" b="1">
                <a:solidFill>
                  <a:srgbClr val="171923"/>
                </a:solidFill>
                <a:latin typeface="Aptos"/>
              </a:rPr>
              <a:t>+39,85%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880360"/>
            <a:ext cx="26974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0">
                <a:solidFill>
                  <a:srgbClr val="171923"/>
                </a:solidFill>
                <a:latin typeface="Aptos"/>
              </a:rPr>
              <a:t>de consumidores aderindo ao canal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462272"/>
            <a:ext cx="795527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BEC1CB"/>
                </a:solidFill>
                <a:latin typeface="Aptos"/>
              </a:rPr>
              <a:t>Fonte: Abrafarma, dados auditados pela FIA-USP, período dez/2024 a nov/2025.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074920"/>
            <a:ext cx="1014984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O digital não substitui a loja. Ele amplia onde e quando ela pode ser escolhida.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320040" y="6281928"/>
            <a:ext cx="1051560" cy="347472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281928"/>
            <a:ext cx="105156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⌂ MENU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9253728" y="6281928"/>
            <a:ext cx="1097280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62819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CD0730"/>
                </a:solidFill>
                <a:latin typeface="Aptos"/>
              </a:rPr>
              <a:t>← VOLTAR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10488168" y="6281928"/>
            <a:ext cx="1371600" cy="347472"/>
          </a:xfrm>
          <a:prstGeom prst="roundRect">
            <a:avLst>
              <a:gd name="adj" fmla="val 18000"/>
            </a:avLst>
          </a:prstGeom>
          <a:solidFill>
            <a:srgbClr val="CD0730"/>
          </a:solidFill>
          <a:ln>
            <a:solidFill>
              <a:srgbClr val="CD0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88168" y="6281928"/>
            <a:ext cx="1371600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QUERO PARTICIPAR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me_desktop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D0423"/>
          </a:solidFill>
          <a:ln>
            <a:solidFill>
              <a:srgbClr val="9D0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upaqu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9436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1691640"/>
            <a:ext cx="836676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Sua loja está pronta para ganhar
uma nova porta de entrada?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154680"/>
            <a:ext cx="800100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A Licence Farma prepara a plataforma. Sua equipe transforma a oportunidade em atendimento e venda.</a:t>
            </a:r>
          </a:p>
        </p:txBody>
      </p:sp>
      <p:sp>
        <p:nvSpPr>
          <p:cNvPr id="8" name="Rounded Rectangle 7">
            <a:hlinkClick r:id="rId4"/>
          </p:cNvPr>
          <p:cNvSpPr/>
          <p:nvPr/>
        </p:nvSpPr>
        <p:spPr>
          <a:xfrm>
            <a:off x="2880360" y="4315968"/>
            <a:ext cx="3154680" cy="594360"/>
          </a:xfrm>
          <a:prstGeom prst="roundRect">
            <a:avLst>
              <a:gd name="adj" fmla="val 18000"/>
            </a:avLst>
          </a:prstGeom>
          <a:solidFill>
            <a:srgbClr val="F8C624"/>
          </a:solidFill>
          <a:ln>
            <a:solidFill>
              <a:srgbClr val="F8C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4315968"/>
            <a:ext cx="315468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71923"/>
                </a:solidFill>
                <a:latin typeface="Aptos"/>
              </a:rPr>
              <a:t>ABRIR O E-COMMERCE REAL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6291072" y="4315968"/>
            <a:ext cx="2926080" cy="594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4315968"/>
            <a:ext cx="292608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CD0730"/>
                </a:solidFill>
                <a:latin typeface="Aptos"/>
              </a:rPr>
              <a:t>REVER A EXPERIÊNCIA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4773168" y="5166360"/>
            <a:ext cx="2651760" cy="475488"/>
          </a:xfrm>
          <a:prstGeom prst="roundRect">
            <a:avLst>
              <a:gd name="adj" fmla="val 18000"/>
            </a:avLst>
          </a:prstGeom>
          <a:solidFill>
            <a:srgbClr val="171923"/>
          </a:solidFill>
          <a:ln>
            <a:solidFill>
              <a:srgbClr val="17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5166360"/>
            <a:ext cx="265176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VOLTAR AO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617220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Licence Farma • Poupaqui Ecommerce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Poupaqui Ecommerce — Apresentação interativa para licenciados</dc:title>
  <dc:subject>Jornada do consumidor e proposta de valor da Licence Farma para lojas licenciadas</dc:subject>
  <dc:creator>Licence Farma</dc:creator>
  <cp:keywords>Poupaqui, ecommerce, licenciado, jornada do consumidor, apresentação interativa</cp:keywords>
  <dc:description>Execute em modo Apresentação (F5) para usar os botões e a navegação interna.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